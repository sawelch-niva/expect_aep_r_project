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2858" autoAdjust="0"/>
    <p:restoredTop sz="97486" autoAdjust="0"/>
  </p:normalViewPr>
  <p:slideViewPr>
    <p:cSldViewPr snapToGrid="0">
      <p:cViewPr>
        <p:scale>
          <a:sx n="66" d="100"/>
          <a:sy n="66" d="100"/>
        </p:scale>
        <p:origin x="4974" y="2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B4D0E-759F-4378-38B4-70252727B2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DCC3C0-0376-6DAC-DDC3-8287ACCA13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AD0F1E-C114-7205-B606-522A7BBA2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2CFF9-EE2B-4D6C-9DD5-416E3E902490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21D6C-2CAD-E71D-1AE4-028D0F9A6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CB58C-21BE-2401-C752-D69A1C7B1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85B22-6AA5-4E12-929F-6B9704A4CE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2359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801BF-E7C8-76A8-CE5D-217E2B86C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CB537-0129-A397-AC6D-D4B7372B3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C0711-8BB5-5AC3-DA59-34BA8FF8F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2CFF9-EE2B-4D6C-9DD5-416E3E902490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8C2AA-92F8-A8D5-DC1C-47281CE2A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311028-7604-3C70-65BE-62D234EE9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85B22-6AA5-4E12-929F-6B9704A4CE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0165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9EAE2-CCDC-556C-C920-C3C8F5FC6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AA28DA-F94E-A986-8F08-4B285D33A2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FFFB4B-4066-E9C2-7A2B-ADA4EB757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2CFF9-EE2B-4D6C-9DD5-416E3E902490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3974D-A69B-D2CB-0DC5-691A38F72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13C47-14C7-C856-DB7D-59E22F36C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85B22-6AA5-4E12-929F-6B9704A4CE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239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23672-537A-93A5-AF07-8EC52328C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3821A-68D2-A39A-59E5-741E7E6D99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E5138B-5CCB-3FA5-DC56-CDB8D23D02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812364-53F7-ED71-ADDA-15A68332A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2CFF9-EE2B-4D6C-9DD5-416E3E902490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105507-833C-C328-52EA-4EF6E42F6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8E141F-6F47-4A14-3CFC-D4DCC6B51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85B22-6AA5-4E12-929F-6B9704A4CE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3398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429CA-A18C-5CF5-9BBE-AB8DD26A8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0511A5-477D-0D02-13A4-36F2AE764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F20B38-DD89-CA2B-84AB-4F1094279E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8F085A-D94E-2790-054E-C814ADEA67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73898C-0ABE-6F48-AEFE-49D5066343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2B9219-92E1-5482-9627-19A78CF6C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2CFF9-EE2B-4D6C-9DD5-416E3E902490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B6CBD1-C643-7A39-2F3E-1BF504D91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B73A09-DB57-0656-C2FD-E8AEBAE5F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85B22-6AA5-4E12-929F-6B9704A4CE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5552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37AD7-6CDE-B21A-B74F-B4E9FF70F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890B1F-F213-BC3B-6A39-D41C4284C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2CFF9-EE2B-4D6C-9DD5-416E3E902490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E42792-145C-913E-53D5-1CFE2B248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7CDEED-6D89-8A6C-C7F6-52F197667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85B22-6AA5-4E12-929F-6B9704A4CE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8745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E08EB7-BBB0-5E35-966B-39F52AFE0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2CFF9-EE2B-4D6C-9DD5-416E3E902490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63D9D2-5482-DC2B-BD5B-35AD22F41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24187B-0E8A-E81C-E79D-996FF47E8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85B22-6AA5-4E12-929F-6B9704A4CE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2116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75FC6-0BBE-3264-F059-53508890A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FB969-622B-22DA-707A-597EE80F6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97F265-BDB0-5532-5BF3-2AD5BDC98B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82A6FC-BA9E-E084-FEC7-98C1A01CD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2CFF9-EE2B-4D6C-9DD5-416E3E902490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7AD41A-5B6C-CA9F-068B-76E0D0ABF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8F6FAE-0311-D266-E428-60735902E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85B22-6AA5-4E12-929F-6B9704A4CE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6011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31CF9-11BC-B834-BF39-1B3E105CE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9719EE-E6B1-FA3E-28B5-7922401480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849E7B-3751-03B2-7B79-EBC37BD2E0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A93386-F5D3-82AD-7CC0-2D0324CFE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2CFF9-EE2B-4D6C-9DD5-416E3E902490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FFE962-B7C3-7276-C1D6-8FD941F25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D55686-BA5D-EA41-054B-53D8803D9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85B22-6AA5-4E12-929F-6B9704A4CE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3717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C20A6-9DFE-1EA6-D9EE-ADC4D91EC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F2C2CB-3BAF-9670-6876-FD3AFF4A5C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019141-1C41-382F-F24F-2083ACD97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2CFF9-EE2B-4D6C-9DD5-416E3E902490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D8213E-871C-A97F-3947-FA2E3ADAC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DB01E1-0D94-FFA5-368D-CE48B3128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85B22-6AA5-4E12-929F-6B9704A4CE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1939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368E38-BCC6-C32F-3557-F65F609580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08EBF8-D16B-3BED-D597-289080D387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AADE1-5CA0-F93C-1B15-6B76039C1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2CFF9-EE2B-4D6C-9DD5-416E3E902490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A1952-BD2E-5766-8F36-AA54B4DFC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252D7A-A3CE-EA1F-C254-48A8BE3AC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85B22-6AA5-4E12-929F-6B9704A4CE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1638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B02A41-A052-B076-7C63-B3E54A03D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3B2F0D-A33B-CDA0-7ED8-F8141F6A5A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EF2D3E-45A4-ED0D-C2CF-FF5E16E417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B2CFF9-EE2B-4D6C-9DD5-416E3E902490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1B84E5-EF91-646F-6413-5F3816377E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BA9CD-604E-B744-3370-0A0BFFB914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D85B22-6AA5-4E12-929F-6B9704A4CE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6534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artial Circle 28">
            <a:extLst>
              <a:ext uri="{FF2B5EF4-FFF2-40B4-BE49-F238E27FC236}">
                <a16:creationId xmlns:a16="http://schemas.microsoft.com/office/drawing/2014/main" id="{3B8CB481-5F10-9A8D-2EAE-BA1BC0241D35}"/>
              </a:ext>
            </a:extLst>
          </p:cNvPr>
          <p:cNvSpPr/>
          <p:nvPr/>
        </p:nvSpPr>
        <p:spPr>
          <a:xfrm flipH="1">
            <a:off x="-6019800" y="2616200"/>
            <a:ext cx="2108200" cy="2108200"/>
          </a:xfrm>
          <a:prstGeom prst="pie">
            <a:avLst>
              <a:gd name="adj1" fmla="val 8933471"/>
              <a:gd name="adj2" fmla="val 1620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5581A38-7054-C1B8-E73E-7CEC44E53775}"/>
              </a:ext>
            </a:extLst>
          </p:cNvPr>
          <p:cNvSpPr/>
          <p:nvPr/>
        </p:nvSpPr>
        <p:spPr>
          <a:xfrm>
            <a:off x="-1544459" y="3003251"/>
            <a:ext cx="1718335" cy="107396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Source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46A751C-1353-D548-5DD7-2CB54F089025}"/>
              </a:ext>
            </a:extLst>
          </p:cNvPr>
          <p:cNvSpPr/>
          <p:nvPr/>
        </p:nvSpPr>
        <p:spPr>
          <a:xfrm>
            <a:off x="1892831" y="3003251"/>
            <a:ext cx="1718335" cy="107396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Key Exposure State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B7BDEFF-8A89-4916-A549-90367E169B6C}"/>
              </a:ext>
            </a:extLst>
          </p:cNvPr>
          <p:cNvSpPr/>
          <p:nvPr/>
        </p:nvSpPr>
        <p:spPr>
          <a:xfrm>
            <a:off x="12204700" y="3003251"/>
            <a:ext cx="1718335" cy="10739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Target Site Exposure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A2A9AB8-57BA-7B78-8550-4536C26F9C4E}"/>
              </a:ext>
            </a:extLst>
          </p:cNvPr>
          <p:cNvSpPr/>
          <p:nvPr/>
        </p:nvSpPr>
        <p:spPr>
          <a:xfrm>
            <a:off x="5330121" y="3003251"/>
            <a:ext cx="1718335" cy="107396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Key Exposure State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51A10A6-E02D-C608-5E80-E30E6410BB4F}"/>
              </a:ext>
            </a:extLst>
          </p:cNvPr>
          <p:cNvSpPr/>
          <p:nvPr/>
        </p:nvSpPr>
        <p:spPr>
          <a:xfrm>
            <a:off x="8767411" y="3003251"/>
            <a:ext cx="1718335" cy="107396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Key Exposure State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17D3DD-D258-06E6-0F07-9E914E1C8A02}"/>
              </a:ext>
            </a:extLst>
          </p:cNvPr>
          <p:cNvSpPr txBox="1"/>
          <p:nvPr/>
        </p:nvSpPr>
        <p:spPr>
          <a:xfrm>
            <a:off x="2003294" y="1765265"/>
            <a:ext cx="14974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Exposure Medium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A4E5F0-DEBA-764A-2FDC-986AC8261CB3}"/>
              </a:ext>
            </a:extLst>
          </p:cNvPr>
          <p:cNvSpPr txBox="1"/>
          <p:nvPr/>
        </p:nvSpPr>
        <p:spPr>
          <a:xfrm>
            <a:off x="8656948" y="1765264"/>
            <a:ext cx="14974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Internal Exposure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2CDC4D-AD75-5371-AC31-71088FE20A0E}"/>
              </a:ext>
            </a:extLst>
          </p:cNvPr>
          <p:cNvSpPr txBox="1"/>
          <p:nvPr/>
        </p:nvSpPr>
        <p:spPr>
          <a:xfrm>
            <a:off x="5330121" y="1765264"/>
            <a:ext cx="14974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External Exposure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D3C154-9EB7-3C04-F9BA-24A772A0E9DD}"/>
              </a:ext>
            </a:extLst>
          </p:cNvPr>
          <p:cNvSpPr txBox="1"/>
          <p:nvPr/>
        </p:nvSpPr>
        <p:spPr>
          <a:xfrm>
            <a:off x="-1980691" y="4614191"/>
            <a:ext cx="341417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Reporting</a:t>
            </a:r>
          </a:p>
          <a:p>
            <a:r>
              <a:rPr lang="en-GB" dirty="0"/>
              <a:t>1. How many studies showed MP in this source media?</a:t>
            </a:r>
          </a:p>
          <a:p>
            <a:r>
              <a:rPr lang="en-GB" dirty="0"/>
              <a:t>2. What quantities were reported in this source media?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18F222-2E67-7949-4743-85BCF126EE09}"/>
              </a:ext>
            </a:extLst>
          </p:cNvPr>
          <p:cNvSpPr txBox="1"/>
          <p:nvPr/>
        </p:nvSpPr>
        <p:spPr>
          <a:xfrm>
            <a:off x="3634286" y="4643682"/>
            <a:ext cx="341417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Reporting</a:t>
            </a:r>
          </a:p>
          <a:p>
            <a:r>
              <a:rPr lang="en-GB" dirty="0"/>
              <a:t>1. How many studies showed MP in this media?</a:t>
            </a:r>
          </a:p>
          <a:p>
            <a:r>
              <a:rPr lang="en-GB" dirty="0"/>
              <a:t>2. What quantities were reported in this media?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3889C4-46CD-FF30-EC43-74187ACD274F}"/>
              </a:ext>
            </a:extLst>
          </p:cNvPr>
          <p:cNvSpPr txBox="1"/>
          <p:nvPr/>
        </p:nvSpPr>
        <p:spPr>
          <a:xfrm>
            <a:off x="11463581" y="4643682"/>
            <a:ext cx="32005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Best Professional Judgement:</a:t>
            </a:r>
          </a:p>
          <a:p>
            <a:r>
              <a:rPr lang="en-GB" dirty="0"/>
              <a:t>1. Suspected target sites of MPs listed from the literature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280960A-1E21-1032-24BA-1150F4470CDE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173876" y="3540231"/>
            <a:ext cx="171895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70BDA9A-864D-1EAF-262A-9856E69821A4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3611166" y="3540231"/>
            <a:ext cx="171895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3B01FAA-A18E-4351-CF74-F36B9B6AC1FB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7048456" y="3540231"/>
            <a:ext cx="171895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164296D-4080-231B-25D6-1A185AA7BD65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>
            <a:off x="10485746" y="3540231"/>
            <a:ext cx="17189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ACC8752-081B-98D7-20BB-A0792B466A59}"/>
              </a:ext>
            </a:extLst>
          </p:cNvPr>
          <p:cNvSpPr txBox="1"/>
          <p:nvPr/>
        </p:nvSpPr>
        <p:spPr>
          <a:xfrm>
            <a:off x="-2228850" y="0"/>
            <a:ext cx="5229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a)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B18CDA-65D8-7C12-DF57-E2D898898A11}"/>
              </a:ext>
            </a:extLst>
          </p:cNvPr>
          <p:cNvSpPr txBox="1"/>
          <p:nvPr/>
        </p:nvSpPr>
        <p:spPr>
          <a:xfrm>
            <a:off x="-2067359" y="7165478"/>
            <a:ext cx="5357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b)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BC2504B-416A-27F8-D8CE-0CA41EF8216A}"/>
              </a:ext>
            </a:extLst>
          </p:cNvPr>
          <p:cNvSpPr txBox="1"/>
          <p:nvPr/>
        </p:nvSpPr>
        <p:spPr>
          <a:xfrm>
            <a:off x="-400426" y="7288588"/>
            <a:ext cx="19488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/>
              <a:t>Essentiality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2B69772-1E5F-3241-E390-B0E1AAAC0F31}"/>
              </a:ext>
            </a:extLst>
          </p:cNvPr>
          <p:cNvGrpSpPr/>
          <p:nvPr/>
        </p:nvGrpSpPr>
        <p:grpSpPr>
          <a:xfrm>
            <a:off x="-1678208" y="8280004"/>
            <a:ext cx="4230950" cy="1641277"/>
            <a:chOff x="-2067359" y="8608946"/>
            <a:chExt cx="5219173" cy="2024630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45E18C95-3823-29DB-B917-DD23BFD787E8}"/>
                </a:ext>
              </a:extLst>
            </p:cNvPr>
            <p:cNvSpPr/>
            <p:nvPr/>
          </p:nvSpPr>
          <p:spPr>
            <a:xfrm>
              <a:off x="-2067359" y="9559616"/>
              <a:ext cx="1718335" cy="1073960"/>
            </a:xfrm>
            <a:prstGeom prst="round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/>
                <a:t>Upstream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36CD9D62-5141-DD33-7932-ACC3327919C8}"/>
                </a:ext>
              </a:extLst>
            </p:cNvPr>
            <p:cNvSpPr/>
            <p:nvPr/>
          </p:nvSpPr>
          <p:spPr>
            <a:xfrm>
              <a:off x="1433479" y="9559616"/>
              <a:ext cx="1718335" cy="1073960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/>
                <a:t>Downstream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912074AE-87BE-99D3-EE7D-8BFA1A2086E9}"/>
                </a:ext>
              </a:extLst>
            </p:cNvPr>
            <p:cNvCxnSpPr>
              <a:cxnSpLocks/>
            </p:cNvCxnSpPr>
            <p:nvPr/>
          </p:nvCxnSpPr>
          <p:spPr>
            <a:xfrm>
              <a:off x="-285476" y="9102416"/>
              <a:ext cx="171895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0" name="Graphic 29" descr="Bar graph with downward trend outline">
              <a:extLst>
                <a:ext uri="{FF2B5EF4-FFF2-40B4-BE49-F238E27FC236}">
                  <a16:creationId xmlns:a16="http://schemas.microsoft.com/office/drawing/2014/main" id="{94079C47-87B4-0F31-E8CC-94B3C0F791C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-1705950" y="8608946"/>
              <a:ext cx="914400" cy="914400"/>
            </a:xfrm>
            <a:prstGeom prst="rect">
              <a:avLst/>
            </a:prstGeom>
          </p:spPr>
        </p:pic>
        <p:pic>
          <p:nvPicPr>
            <p:cNvPr id="33" name="Graphic 32" descr="Bar graph with downward trend outline">
              <a:extLst>
                <a:ext uri="{FF2B5EF4-FFF2-40B4-BE49-F238E27FC236}">
                  <a16:creationId xmlns:a16="http://schemas.microsoft.com/office/drawing/2014/main" id="{34B57239-C9DF-32BA-AC6A-0E3FAB65787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892831" y="8645216"/>
              <a:ext cx="914400" cy="914400"/>
            </a:xfrm>
            <a:prstGeom prst="rect">
              <a:avLst/>
            </a:prstGeom>
          </p:spPr>
        </p:pic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A9F8C2DB-63B6-1AF6-DB5A-5AFD6F8BF7B0}"/>
              </a:ext>
            </a:extLst>
          </p:cNvPr>
          <p:cNvSpPr txBox="1"/>
          <p:nvPr/>
        </p:nvSpPr>
        <p:spPr>
          <a:xfrm>
            <a:off x="4878674" y="7314263"/>
            <a:ext cx="19488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/>
              <a:t>Plausibility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15064A9-C4AD-D761-C6F6-D6E1D841EA6B}"/>
              </a:ext>
            </a:extLst>
          </p:cNvPr>
          <p:cNvSpPr txBox="1"/>
          <p:nvPr/>
        </p:nvSpPr>
        <p:spPr>
          <a:xfrm>
            <a:off x="3634286" y="7227032"/>
            <a:ext cx="5357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c)</a:t>
            </a:r>
          </a:p>
        </p:txBody>
      </p:sp>
      <p:pic>
        <p:nvPicPr>
          <p:cNvPr id="41" name="Graphic 40" descr="Magnifying glass outline">
            <a:extLst>
              <a:ext uri="{FF2B5EF4-FFF2-40B4-BE49-F238E27FC236}">
                <a16:creationId xmlns:a16="http://schemas.microsoft.com/office/drawing/2014/main" id="{9AC3BE00-1AAD-61A8-B70F-6CF3DEE0ED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02916" y="7750253"/>
            <a:ext cx="914400" cy="914400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15AE9408-DF24-6D88-7711-86436E3DCF3A}"/>
              </a:ext>
            </a:extLst>
          </p:cNvPr>
          <p:cNvGrpSpPr/>
          <p:nvPr/>
        </p:nvGrpSpPr>
        <p:grpSpPr>
          <a:xfrm>
            <a:off x="3698141" y="9041229"/>
            <a:ext cx="4230950" cy="870611"/>
            <a:chOff x="-2067359" y="9559616"/>
            <a:chExt cx="5219173" cy="1073960"/>
          </a:xfrm>
        </p:grpSpPr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FAFB1C99-290E-0EF6-319D-6363AA0EB185}"/>
                </a:ext>
              </a:extLst>
            </p:cNvPr>
            <p:cNvSpPr/>
            <p:nvPr/>
          </p:nvSpPr>
          <p:spPr>
            <a:xfrm>
              <a:off x="-2067359" y="9559616"/>
              <a:ext cx="1718335" cy="1073960"/>
            </a:xfrm>
            <a:prstGeom prst="round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/>
                <a:t>Upstream</a:t>
              </a:r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62C75850-E8C2-FD2E-4624-53886BC5120F}"/>
                </a:ext>
              </a:extLst>
            </p:cNvPr>
            <p:cNvSpPr/>
            <p:nvPr/>
          </p:nvSpPr>
          <p:spPr>
            <a:xfrm>
              <a:off x="1433479" y="9559616"/>
              <a:ext cx="1718335" cy="1073960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/>
                <a:t>Downstream</a:t>
              </a:r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D6B3CE60-9D0C-E98B-67B9-562B91D12F4E}"/>
                </a:ext>
              </a:extLst>
            </p:cNvPr>
            <p:cNvCxnSpPr>
              <a:cxnSpLocks/>
            </p:cNvCxnSpPr>
            <p:nvPr/>
          </p:nvCxnSpPr>
          <p:spPr>
            <a:xfrm>
              <a:off x="-349024" y="10108237"/>
              <a:ext cx="171895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1765870F-575B-D1C1-C031-4575F6D8B5C6}"/>
              </a:ext>
            </a:extLst>
          </p:cNvPr>
          <p:cNvSpPr txBox="1"/>
          <p:nvPr/>
        </p:nvSpPr>
        <p:spPr>
          <a:xfrm>
            <a:off x="5149941" y="8750800"/>
            <a:ext cx="13273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Detailed </a:t>
            </a:r>
          </a:p>
          <a:p>
            <a:pPr algn="ctr"/>
            <a:r>
              <a:rPr lang="en-GB" sz="1400" dirty="0"/>
              <a:t>Understanding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A7901F6-95BC-7964-6CD4-466BDD143CFF}"/>
              </a:ext>
            </a:extLst>
          </p:cNvPr>
          <p:cNvSpPr txBox="1"/>
          <p:nvPr/>
        </p:nvSpPr>
        <p:spPr>
          <a:xfrm>
            <a:off x="5133606" y="9577970"/>
            <a:ext cx="13273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Limited </a:t>
            </a:r>
          </a:p>
          <a:p>
            <a:pPr algn="ctr"/>
            <a:r>
              <a:rPr lang="en-GB" sz="1400" dirty="0"/>
              <a:t>Understanding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5A6EF16-4574-82FD-7B8D-E89EB9E6C962}"/>
              </a:ext>
            </a:extLst>
          </p:cNvPr>
          <p:cNvSpPr txBox="1"/>
          <p:nvPr/>
        </p:nvSpPr>
        <p:spPr>
          <a:xfrm>
            <a:off x="8458993" y="7230734"/>
            <a:ext cx="5357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d)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4A2F282-3AA4-CD3F-268B-223C18CE3A99}"/>
              </a:ext>
            </a:extLst>
          </p:cNvPr>
          <p:cNvSpPr txBox="1"/>
          <p:nvPr/>
        </p:nvSpPr>
        <p:spPr>
          <a:xfrm>
            <a:off x="8910355" y="7355616"/>
            <a:ext cx="19488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/>
              <a:t>Evidence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DC6AE6C-3C4A-7CBA-0781-7A52970D3297}"/>
              </a:ext>
            </a:extLst>
          </p:cNvPr>
          <p:cNvSpPr txBox="1"/>
          <p:nvPr/>
        </p:nvSpPr>
        <p:spPr>
          <a:xfrm>
            <a:off x="11687756" y="7189381"/>
            <a:ext cx="5212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e)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05560D3-D6DF-3B43-413A-C96CF8332191}"/>
              </a:ext>
            </a:extLst>
          </p:cNvPr>
          <p:cNvSpPr txBox="1"/>
          <p:nvPr/>
        </p:nvSpPr>
        <p:spPr>
          <a:xfrm>
            <a:off x="12139117" y="7314263"/>
            <a:ext cx="26287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/>
              <a:t>Quantification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779FE75C-BB86-854B-17AD-8CAA16E6E214}"/>
              </a:ext>
            </a:extLst>
          </p:cNvPr>
          <p:cNvGrpSpPr/>
          <p:nvPr/>
        </p:nvGrpSpPr>
        <p:grpSpPr>
          <a:xfrm>
            <a:off x="8499625" y="7971028"/>
            <a:ext cx="2900521" cy="914400"/>
            <a:chOff x="8499625" y="7971028"/>
            <a:chExt cx="2900521" cy="914400"/>
          </a:xfrm>
        </p:grpSpPr>
        <p:pic>
          <p:nvPicPr>
            <p:cNvPr id="62" name="Graphic 61" descr="Table outline">
              <a:extLst>
                <a:ext uri="{FF2B5EF4-FFF2-40B4-BE49-F238E27FC236}">
                  <a16:creationId xmlns:a16="http://schemas.microsoft.com/office/drawing/2014/main" id="{567128F7-5F9F-1435-AD31-8B1D5FC6A92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499625" y="7971028"/>
              <a:ext cx="914400" cy="914400"/>
            </a:xfrm>
            <a:prstGeom prst="rect">
              <a:avLst/>
            </a:prstGeom>
          </p:spPr>
        </p:pic>
        <p:pic>
          <p:nvPicPr>
            <p:cNvPr id="64" name="Graphic 63" descr="Document outline">
              <a:extLst>
                <a:ext uri="{FF2B5EF4-FFF2-40B4-BE49-F238E27FC236}">
                  <a16:creationId xmlns:a16="http://schemas.microsoft.com/office/drawing/2014/main" id="{48C29CBD-0C98-16D5-5720-E094ABF8A95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492685" y="7971028"/>
              <a:ext cx="914400" cy="914400"/>
            </a:xfrm>
            <a:prstGeom prst="rect">
              <a:avLst/>
            </a:prstGeom>
          </p:spPr>
        </p:pic>
        <p:pic>
          <p:nvPicPr>
            <p:cNvPr id="66" name="Graphic 65" descr="CheckList outline">
              <a:extLst>
                <a:ext uri="{FF2B5EF4-FFF2-40B4-BE49-F238E27FC236}">
                  <a16:creationId xmlns:a16="http://schemas.microsoft.com/office/drawing/2014/main" id="{9AA8B476-8FF0-8B9D-7046-30FF77109B5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85746" y="7971028"/>
              <a:ext cx="914400" cy="914400"/>
            </a:xfrm>
            <a:prstGeom prst="rect">
              <a:avLst/>
            </a:prstGeom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8DB17835-FC9A-6359-E502-445F5F073FB5}"/>
                </a:ext>
              </a:extLst>
            </p:cNvPr>
            <p:cNvSpPr txBox="1"/>
            <p:nvPr/>
          </p:nvSpPr>
          <p:spPr>
            <a:xfrm>
              <a:off x="9283135" y="8243562"/>
              <a:ext cx="4191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≈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31D8FD1E-BAD8-5F11-17D7-14670EC2EF07}"/>
                </a:ext>
              </a:extLst>
            </p:cNvPr>
            <p:cNvSpPr txBox="1"/>
            <p:nvPr/>
          </p:nvSpPr>
          <p:spPr>
            <a:xfrm>
              <a:off x="10236866" y="8243562"/>
              <a:ext cx="4191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≈</a:t>
              </a: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095BDBF9-0EB9-3BB2-27DD-053D223370DF}"/>
              </a:ext>
            </a:extLst>
          </p:cNvPr>
          <p:cNvGrpSpPr/>
          <p:nvPr/>
        </p:nvGrpSpPr>
        <p:grpSpPr>
          <a:xfrm>
            <a:off x="8458993" y="9039175"/>
            <a:ext cx="3228764" cy="870611"/>
            <a:chOff x="-2067359" y="9559616"/>
            <a:chExt cx="3982906" cy="1073960"/>
          </a:xfrm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F4724CC4-6007-457B-A29E-F79636E69B1A}"/>
                </a:ext>
              </a:extLst>
            </p:cNvPr>
            <p:cNvSpPr/>
            <p:nvPr/>
          </p:nvSpPr>
          <p:spPr>
            <a:xfrm>
              <a:off x="-2067359" y="9559616"/>
              <a:ext cx="1718335" cy="1073960"/>
            </a:xfrm>
            <a:prstGeom prst="round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/>
                <a:t>Upstream</a:t>
              </a:r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6A6B1C99-E178-922E-CEB4-E53CBDB3B56F}"/>
                </a:ext>
              </a:extLst>
            </p:cNvPr>
            <p:cNvSpPr/>
            <p:nvPr/>
          </p:nvSpPr>
          <p:spPr>
            <a:xfrm>
              <a:off x="197212" y="9559616"/>
              <a:ext cx="1718335" cy="1073960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/>
                <a:t>Downstream</a:t>
              </a:r>
            </a:p>
          </p:txBody>
        </p: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502FDD9D-C580-74E7-ED49-24A390067736}"/>
                </a:ext>
              </a:extLst>
            </p:cNvPr>
            <p:cNvCxnSpPr>
              <a:cxnSpLocks/>
            </p:cNvCxnSpPr>
            <p:nvPr/>
          </p:nvCxnSpPr>
          <p:spPr>
            <a:xfrm>
              <a:off x="-349024" y="10108237"/>
              <a:ext cx="47479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FEC00AD9-6BFB-7211-5F28-518834B4D29C}"/>
              </a:ext>
            </a:extLst>
          </p:cNvPr>
          <p:cNvSpPr txBox="1"/>
          <p:nvPr/>
        </p:nvSpPr>
        <p:spPr>
          <a:xfrm>
            <a:off x="-1705950" y="7798701"/>
            <a:ext cx="38755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Downstream reduced/stopped when upstream is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66CA675-6EAE-5150-D572-5C3D230BF097}"/>
              </a:ext>
            </a:extLst>
          </p:cNvPr>
          <p:cNvSpPr txBox="1"/>
          <p:nvPr/>
        </p:nvSpPr>
        <p:spPr>
          <a:xfrm>
            <a:off x="8540095" y="10202904"/>
            <a:ext cx="30086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Multiple consistent lines of evidence</a:t>
            </a:r>
          </a:p>
        </p:txBody>
      </p:sp>
      <p:pic>
        <p:nvPicPr>
          <p:cNvPr id="78" name="Graphic 77" descr="Computer outline">
            <a:extLst>
              <a:ext uri="{FF2B5EF4-FFF2-40B4-BE49-F238E27FC236}">
                <a16:creationId xmlns:a16="http://schemas.microsoft.com/office/drawing/2014/main" id="{A5E1317B-3B6F-5FE8-D2F8-2E4642A12F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826500" y="7792757"/>
            <a:ext cx="914400" cy="914400"/>
          </a:xfrm>
          <a:prstGeom prst="rect">
            <a:avLst/>
          </a:prstGeom>
        </p:spPr>
      </p:pic>
      <p:grpSp>
        <p:nvGrpSpPr>
          <p:cNvPr id="79" name="Group 78">
            <a:extLst>
              <a:ext uri="{FF2B5EF4-FFF2-40B4-BE49-F238E27FC236}">
                <a16:creationId xmlns:a16="http://schemas.microsoft.com/office/drawing/2014/main" id="{5587399B-A47E-D867-DD8D-4AE8A46277BB}"/>
              </a:ext>
            </a:extLst>
          </p:cNvPr>
          <p:cNvGrpSpPr/>
          <p:nvPr/>
        </p:nvGrpSpPr>
        <p:grpSpPr>
          <a:xfrm>
            <a:off x="12115957" y="9011759"/>
            <a:ext cx="3228764" cy="870611"/>
            <a:chOff x="-2067359" y="9559616"/>
            <a:chExt cx="3982906" cy="1073960"/>
          </a:xfrm>
        </p:grpSpPr>
        <p:sp>
          <p:nvSpPr>
            <p:cNvPr id="80" name="Rectangle: Rounded Corners 79">
              <a:extLst>
                <a:ext uri="{FF2B5EF4-FFF2-40B4-BE49-F238E27FC236}">
                  <a16:creationId xmlns:a16="http://schemas.microsoft.com/office/drawing/2014/main" id="{72D96571-D3F0-7CB4-76B9-5E27F5421C32}"/>
                </a:ext>
              </a:extLst>
            </p:cNvPr>
            <p:cNvSpPr/>
            <p:nvPr/>
          </p:nvSpPr>
          <p:spPr>
            <a:xfrm>
              <a:off x="-2067359" y="9559616"/>
              <a:ext cx="1718335" cy="1073960"/>
            </a:xfrm>
            <a:prstGeom prst="round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/>
                <a:t>Upstream</a:t>
              </a:r>
            </a:p>
          </p:txBody>
        </p:sp>
        <p:sp>
          <p:nvSpPr>
            <p:cNvPr id="81" name="Rectangle: Rounded Corners 80">
              <a:extLst>
                <a:ext uri="{FF2B5EF4-FFF2-40B4-BE49-F238E27FC236}">
                  <a16:creationId xmlns:a16="http://schemas.microsoft.com/office/drawing/2014/main" id="{8BE30980-B8BD-13E7-16B7-175DCB14DE6D}"/>
                </a:ext>
              </a:extLst>
            </p:cNvPr>
            <p:cNvSpPr/>
            <p:nvPr/>
          </p:nvSpPr>
          <p:spPr>
            <a:xfrm>
              <a:off x="197212" y="9559616"/>
              <a:ext cx="1718335" cy="1073960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/>
                <a:t>Downstream</a:t>
              </a:r>
            </a:p>
          </p:txBody>
        </p: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C87BB3EF-4B66-D9BC-6737-801DB29E0895}"/>
                </a:ext>
              </a:extLst>
            </p:cNvPr>
            <p:cNvCxnSpPr>
              <a:cxnSpLocks/>
            </p:cNvCxnSpPr>
            <p:nvPr/>
          </p:nvCxnSpPr>
          <p:spPr>
            <a:xfrm>
              <a:off x="-349024" y="10108237"/>
              <a:ext cx="47479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47E1A34C-489A-780B-B012-D64B601EDE2C}"/>
              </a:ext>
            </a:extLst>
          </p:cNvPr>
          <p:cNvSpPr txBox="1"/>
          <p:nvPr/>
        </p:nvSpPr>
        <p:spPr>
          <a:xfrm>
            <a:off x="12464463" y="10202904"/>
            <a:ext cx="2624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Effective model of relationships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5641EE3-46C2-CA13-9FA6-9D2A372768C7}"/>
              </a:ext>
            </a:extLst>
          </p:cNvPr>
          <p:cNvSpPr txBox="1"/>
          <p:nvPr/>
        </p:nvSpPr>
        <p:spPr>
          <a:xfrm>
            <a:off x="-1614039" y="112980"/>
            <a:ext cx="4376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 Peng et al did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CCC5FB-BE9C-8723-E112-B1F4CF853F54}"/>
              </a:ext>
            </a:extLst>
          </p:cNvPr>
          <p:cNvSpPr txBox="1"/>
          <p:nvPr/>
        </p:nvSpPr>
        <p:spPr>
          <a:xfrm>
            <a:off x="-5849066" y="718981"/>
            <a:ext cx="50486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0" dirty="0">
                <a:latin typeface="Aptos Slab Black" panose="020F0502020204030204" pitchFamily="34" charset="0"/>
              </a:rPr>
              <a:t>∝</a:t>
            </a:r>
          </a:p>
        </p:txBody>
      </p:sp>
      <p:sp>
        <p:nvSpPr>
          <p:cNvPr id="26" name="Partial Circle 25">
            <a:extLst>
              <a:ext uri="{FF2B5EF4-FFF2-40B4-BE49-F238E27FC236}">
                <a16:creationId xmlns:a16="http://schemas.microsoft.com/office/drawing/2014/main" id="{348D426F-6AD7-BCEF-85D3-A9E2B566B2D2}"/>
              </a:ext>
            </a:extLst>
          </p:cNvPr>
          <p:cNvSpPr/>
          <p:nvPr/>
        </p:nvSpPr>
        <p:spPr>
          <a:xfrm>
            <a:off x="-6096000" y="2616200"/>
            <a:ext cx="2108200" cy="2108200"/>
          </a:xfrm>
          <a:prstGeom prst="pie">
            <a:avLst>
              <a:gd name="adj1" fmla="val 8933471"/>
              <a:gd name="adj2" fmla="val 1620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1" name="Partial Circle 30">
            <a:extLst>
              <a:ext uri="{FF2B5EF4-FFF2-40B4-BE49-F238E27FC236}">
                <a16:creationId xmlns:a16="http://schemas.microsoft.com/office/drawing/2014/main" id="{3EAF6DAB-1291-8CE6-06D6-71B78FC0EF46}"/>
              </a:ext>
            </a:extLst>
          </p:cNvPr>
          <p:cNvSpPr/>
          <p:nvPr/>
        </p:nvSpPr>
        <p:spPr>
          <a:xfrm rot="7200000" flipH="1">
            <a:off x="-6057900" y="2699019"/>
            <a:ext cx="2108200" cy="2108200"/>
          </a:xfrm>
          <a:prstGeom prst="pie">
            <a:avLst>
              <a:gd name="adj1" fmla="val 9067954"/>
              <a:gd name="adj2" fmla="val 1611134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D4C28E-A796-1463-EB7E-61DF0BDB868A}"/>
              </a:ext>
            </a:extLst>
          </p:cNvPr>
          <p:cNvSpPr txBox="1"/>
          <p:nvPr/>
        </p:nvSpPr>
        <p:spPr>
          <a:xfrm>
            <a:off x="158665" y="3649253"/>
            <a:ext cx="15652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dirty="0"/>
              <a:t>Key Transitional Relationship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DF6FC7F-C479-A08E-B8DF-F3145C9FC2DA}"/>
              </a:ext>
            </a:extLst>
          </p:cNvPr>
          <p:cNvSpPr txBox="1"/>
          <p:nvPr/>
        </p:nvSpPr>
        <p:spPr>
          <a:xfrm>
            <a:off x="3634286" y="3668810"/>
            <a:ext cx="15652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dirty="0"/>
              <a:t>Key Transitional Relationship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5205BBE-31C8-6570-2B8B-8E38991718A6}"/>
              </a:ext>
            </a:extLst>
          </p:cNvPr>
          <p:cNvSpPr txBox="1"/>
          <p:nvPr/>
        </p:nvSpPr>
        <p:spPr>
          <a:xfrm>
            <a:off x="7109907" y="3735998"/>
            <a:ext cx="15652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dirty="0"/>
              <a:t>Key Transitional Relationship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3E8B09E-E438-67AE-A7A4-2AE7C8EAD5D4}"/>
              </a:ext>
            </a:extLst>
          </p:cNvPr>
          <p:cNvSpPr txBox="1"/>
          <p:nvPr/>
        </p:nvSpPr>
        <p:spPr>
          <a:xfrm>
            <a:off x="10585528" y="3803186"/>
            <a:ext cx="15652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dirty="0"/>
              <a:t>Key Transitional Relationship</a:t>
            </a:r>
          </a:p>
        </p:txBody>
      </p:sp>
    </p:spTree>
    <p:extLst>
      <p:ext uri="{BB962C8B-B14F-4D97-AF65-F5344CB8AC3E}">
        <p14:creationId xmlns:p14="http://schemas.microsoft.com/office/powerpoint/2010/main" val="2303292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142</Words>
  <Application>Microsoft Office PowerPoint</Application>
  <PresentationFormat>Widescreen</PresentationFormat>
  <Paragraphs>48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Aptos Slab Black</vt:lpstr>
      <vt:lpstr>Arial</vt:lpstr>
      <vt:lpstr>Office Theme</vt:lpstr>
      <vt:lpstr>PowerPoint Presentation</vt:lpstr>
    </vt:vector>
  </TitlesOfParts>
  <Company>NIVA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 Welch</dc:creator>
  <cp:lastModifiedBy>Sam Welch</cp:lastModifiedBy>
  <cp:revision>8</cp:revision>
  <dcterms:created xsi:type="dcterms:W3CDTF">2026-04-28T07:28:23Z</dcterms:created>
  <dcterms:modified xsi:type="dcterms:W3CDTF">2026-04-29T10:25:55Z</dcterms:modified>
</cp:coreProperties>
</file>